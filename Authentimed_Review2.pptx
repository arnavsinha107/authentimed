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5356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D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338560" y="4846320"/>
            <a:ext cx="2377440" cy="237744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BCSE329L — BLOCKCHAIN AND DISTRIBUTED LEDGER 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Authentimed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Blockchain Based Counterfeit Drug Detection System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2194560" cy="0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|  Implementation Progress Report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Sinha (23BKT0028)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Kapilan Kathirvel (23BKT0035)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 Raj (23BKT0103)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46634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
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Sivaranjani 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
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&amp; 17 Sept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RECAP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of Review 1 —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6F8F9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10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products in LMICs is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substandard or falsified (WHO)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6F8F9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80560" y="17373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$30.5 bn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0560" y="2423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globally every year on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 / substandard medicine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6F8F9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75320" y="17373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&gt;1 million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75320" y="2423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year attributed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these products (WHO)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8587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identified in Review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279392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QR / barcode mandates (India Schedule H2, US DSCSA, EU FMD) make serialization compulsory — but a printed code carries no secret. A photograph of one genuine pack (as in the Feb 2025 Howrah seizure) can be reprinted on thousands of fakes, and a stateless scan only checks that a code exists, never whether that pack has already been sold.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framework's contribution: a stateful custody ledger where every pack carries a lifecycle state, not merely a registered identity — so duplication itself becomes detectable.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RECAP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Changed Since Review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7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470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Implementation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React frontend + Flask backend + Sepolia Testnet smart contract — a live deployed end-to-end system replacing the Review 1 design-only proposal.</a:t>
            </a:r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CE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8470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Packaging Verification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OpenCV-based structural comparison checks the physical authenticity of packaging — extending scope from digital-only to digital + physical validation.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7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9959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Dual-Factor Authentication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QR-code serialization plus an embedded 10-char hidden PAN code (revealed via colour-channel processing) linked in Supabase PostgreSQL for stronger physical security.</a:t>
            </a:r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CE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9959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Replay Protection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45720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Review-1 anti-cloning mechanism is implemented end-to-end: one scan per product, enforced on-chain.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deployed end-to-end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205740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React/Vite frontend, a Flask orchestration backend, an OpenCV + PIL AI layer, Supabase/PostgreSQL for off-chain records, and an Ethereum Sepolia smart contract (ProductRegistry.sol) as single source of truth.</a:t>
            </a:r>
          </a:p>
        </p:txBody>
      </p:sp>
      <p:sp>
        <p:nvSpPr>
          <p:cNvPr id="7" name="Shape 4"/>
          <p:cNvSpPr/>
          <p:nvPr/>
        </p:nvSpPr>
        <p:spPr>
          <a:xfrm>
            <a:off x="9189720" y="1600200"/>
            <a:ext cx="2468880" cy="4160520"/>
          </a:xfrm>
          <a:prstGeom prst="roundRect">
            <a:avLst>
              <a:gd name="adj" fmla="val 2963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1832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0" y="2148840"/>
            <a:ext cx="20116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fingerprint and lifecycle state live on-chain. Image data and similarity checks stay off-chain — the Review 1 design principle, now implemented.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2" name="Picture 11" descr="updated_slide4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417320"/>
            <a:ext cx="5669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WORKFLOW / DATA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— Manufacturer Registration</a:t>
            </a:r>
            <a:endParaRPr lang="en-US" sz="3000" dirty="0"/>
          </a:p>
        </p:txBody>
      </p:sp>
      <p:pic>
        <p:nvPicPr>
          <p:cNvPr id="4" name="Image 0" descr="/home/claude/figs/fig2_manufacturer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371600"/>
            <a:ext cx="489204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6916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manufacturer uploads a packaging template. The backend mints a unique Product ID (MEDICINEX-uuid), generates a QR code and a hidden PAN code, produces the canonical packaged image, stores the mapping in Supabase, and registers the product on-chain in the VALID state.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470916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D7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486460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canonical packaged image + on-chain VALID state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WORKFLOW / DATA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— Verification &amp; Replay Detection</a:t>
            </a:r>
            <a:endParaRPr lang="en-US" sz="3000" dirty="0"/>
          </a:p>
        </p:txBody>
      </p:sp>
      <p:pic>
        <p:nvPicPr>
          <p:cNvPr id="4" name="Image 0" descr="/home/claude/figs/fig3_verification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4983480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1600200"/>
            <a:ext cx="5760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pharmacist or consumer uploads a photo. The backend extracts the identifier, checks Supabase, runs the OpenCV template comparison for full-pack images, then queries the smart contract.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852160" y="2697480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D7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80760" y="288036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 sz="1300" b="1">
                <a:solidFill>
                  <a:srgbClr val="0F4C3A"/>
                </a:solidFill>
              </a:defRPr>
            </a:pPr>
            <a:r>
              <a:t>If state == VALID -&gt; flips to REPLAYED, scan logged -&gt; GENUINE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3931920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FCE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41148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already REPLAYED, or template mismatch -&gt; COUNTERFEIT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516636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3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photographed and reprinted QR passes a stateless, database-only check — but is caught here the moment it is scanned a second time, because state lives on-chain.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Details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pre-collected external dataset is used. The verification task's 'ground truth' is each manufacturer's own registered template, so data is generated dynamically by the system itself.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2468880"/>
            <a:ext cx="8641080" cy="868680"/>
          </a:xfrm>
          <a:prstGeom prst="roundRect">
            <a:avLst>
              <a:gd name="adj" fmla="val 6316"/>
            </a:avLst>
          </a:prstGeom>
          <a:solidFill>
            <a:srgbClr val="F6F8F9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24688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Manufacturer-uploaded packaging templates + dynamically generated QR / PAN codes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48640" y="3456432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45643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71800" y="3456432"/>
            <a:ext cx="8641080" cy="868680"/>
          </a:xfrm>
          <a:prstGeom prst="roundRect">
            <a:avLst>
              <a:gd name="adj" fmla="val 6316"/>
            </a:avLst>
          </a:prstGeom>
          <a:solidFill>
            <a:srgbClr val="F6F8F9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345643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  <a:defRPr sz="1200" b="1">
                <a:solidFill>
                  <a:srgbClr val="282828"/>
                </a:solidFill>
              </a:defRPr>
            </a:pPr>
            <a:r>
              <a:t>OpenCV normalizes image resolution; extracts features for structural-similarity comparison; isolates R/G/B channels to embed and reveal the hidden PAN code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443984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71800" y="4443984"/>
            <a:ext cx="8641080" cy="868680"/>
          </a:xfrm>
          <a:prstGeom prst="roundRect">
            <a:avLst>
              <a:gd name="adj" fmla="val 6316"/>
            </a:avLst>
          </a:prstGeom>
          <a:solidFill>
            <a:srgbClr val="F6F8F9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4443984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Packaged, hidden, and R/G/B reveal images are written to backend/generated/; only file references (not binary data) are passed to the frontend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48640" y="5431536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543153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5431536"/>
            <a:ext cx="8641080" cy="868680"/>
          </a:xfrm>
          <a:prstGeom prst="roundRect">
            <a:avLst>
              <a:gd name="adj" fmla="val 6316"/>
            </a:avLst>
          </a:prstGeom>
          <a:solidFill>
            <a:srgbClr val="F6F8F9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5431536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train/validation/test split — verification is a one-shot comparison against a single registered template, not a trained classifier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IMPLEMENTATION DETAILS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Code Structure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Picture 6" descr="updated_slide8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0515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IMPLEMENTATION DETAILS (II) KEY ALGORITHM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Innovation — Anti-Cloning State Machine</a:t>
            </a:r>
            <a:endParaRPr lang="en-US" sz="3000" dirty="0"/>
          </a:p>
        </p:txBody>
      </p:sp>
      <p:pic>
        <p:nvPicPr>
          <p:cNvPr id="4" name="Image 0" descr="/home/claude/figs/fig_state_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08760"/>
            <a:ext cx="10149840" cy="2331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06908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registered product exists in exactly one on-chain state. A product may move VALID -&gt; REPLAYED exactly once, inside ProductRegistry.sol — this single guarded transition is what turns a copied / reprinted QR code from an undetectable clone into an immediate COUNTERFEIT flag on its second use.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005840" y="507492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CE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234440" y="5193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QR check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55595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 code exists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507492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D7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92240" y="5193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ledger check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0" y="55595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it hasn't been claimed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IMPLEMENTATION DETAILS (II) — KEY ALGORITHM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verifyProduct() — the guarded state transition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09960" cy="3931920"/>
          </a:xfrm>
          <a:prstGeom prst="roundRect">
            <a:avLst>
              <a:gd name="adj" fmla="val 1263"/>
            </a:avLst>
          </a:prstGeom>
          <a:solidFill>
            <a:srgbClr val="0E1E38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10515600" cy="3749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  <a:defRPr sz="1100">
                <a:solidFill>
                  <a:srgbClr val="80CBC4"/>
                </a:solidFill>
                <a:latin typeface="Consolas"/>
              </a:defRPr>
            </a:pPr>
            <a:r>
              <a:t>// SPDX-License-Identifier: MIT</a:t>
            </a:r>
            <a:endParaRPr lang="en-US" sz="1250" dirty="0"/>
          </a:p>
          <a:p>
            <a:pPr>
              <a:defRPr sz="1100">
                <a:solidFill>
                  <a:srgbClr val="80CBC4"/>
                </a:solidFill>
                <a:latin typeface="Consolas"/>
              </a:defRPr>
            </a:pPr>
            <a:r>
              <a:t>pragma solidity ^0.8.28;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80DEEA"/>
                </a:solidFill>
                <a:latin typeface="Consolas"/>
              </a:defRPr>
            </a:pPr>
            <a:r>
              <a:t>enum State { NONE, VALID, REPLAYED }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function registerProduct(string memory id) public onlyOwner {</a:t>
            </a:r>
          </a:p>
          <a:p>
            <a:pPr>
              <a:defRPr sz="1100">
                <a:solidFill>
                  <a:srgbClr val="E0F2F1"/>
                </a:solidFill>
                <a:latin typeface="Consolas"/>
              </a:defRPr>
            </a:pPr>
            <a:r>
              <a:t>    require(products[id].state == State.NONE, "Already registered");</a:t>
            </a:r>
          </a:p>
          <a:p>
            <a:pPr>
              <a:defRPr sz="1100">
                <a:solidFill>
                  <a:srgbClr val="E0F2F1"/>
                </a:solidFill>
                <a:latin typeface="Consolas"/>
              </a:defRPr>
            </a:pPr>
            <a:r>
              <a:t>    products[id] = Product({ manufacturer: msg.sender, state: State.VALID });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80CBC4"/>
                </a:solidFill>
                <a:latin typeface="Consolas"/>
              </a:defRPr>
            </a:pPr>
            <a:r>
              <a:t>// Anti-cloning core: single guarded transition VALID -&gt; REPLAYED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function verifyProduct(string memory id) public returns (bool) {</a:t>
            </a:r>
          </a:p>
          <a:p>
            <a:pPr>
              <a:defRPr sz="1100">
                <a:solidFill>
                  <a:srgbClr val="FFE082"/>
                </a:solidFill>
                <a:latin typeface="Consolas"/>
              </a:defRPr>
            </a:pPr>
            <a:r>
              <a:t>    if (products[id].state == State.VALID) {</a:t>
            </a:r>
          </a:p>
          <a:p>
            <a:pPr>
              <a:defRPr sz="1100">
                <a:solidFill>
                  <a:srgbClr val="A5D6A7"/>
                </a:solidFill>
                <a:latin typeface="Consolas"/>
              </a:defRPr>
            </a:pPr>
            <a:r>
              <a:t>        products[id].state = State.REPLAYED; // mark claimed</a:t>
            </a:r>
          </a:p>
          <a:p>
            <a:pPr>
              <a:defRPr sz="1100">
                <a:solidFill>
                  <a:srgbClr val="A5D6A7"/>
                </a:solidFill>
                <a:latin typeface="Consolas"/>
              </a:defRPr>
            </a:pPr>
            <a:r>
              <a:t>        return true; // first scan: GENUINE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defRPr sz="1100">
                <a:solidFill>
                  <a:srgbClr val="EF9A9A"/>
                </a:solidFill>
                <a:latin typeface="Consolas"/>
              </a:defRPr>
            </a:pPr>
            <a:r>
              <a:t>    return false; // repeat scan: COUNTERFEIT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530352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200">
                <a:solidFill>
                  <a:srgbClr val="CFD8DC"/>
                </a:solidFill>
              </a:defRPr>
            </a:pPr>
            <a:r>
              <a:t>One-way state transition enforced on-chain; state lives in ProductRegistry.sol on Sepolia, so no off-chain service can re-validate an already-claimed pack.</a:t>
            </a:r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IMPLEMENTATION DETAILS (II) KEY ALGORITHM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Dual-Factor Security — Hidden PAN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480560" y="1645920"/>
            <a:ext cx="7178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 random packaging authentication number is generated per product at registration.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15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7004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in colour channel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0560" y="2670048"/>
            <a:ext cx="7178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The PAN is bit-encoded into steganographic segment masks (id_generation.py) written to image channels — invisible under normal viewing.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3739896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7398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69417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Product ID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80560" y="3694176"/>
            <a:ext cx="7178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QR-derived Product ID and PAN code are stored as a linked pair in Supabase, so either factor verifies the same identity.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764024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7640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71830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on scan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80560" y="4718304"/>
            <a:ext cx="7178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 strip-only scan extracts the blue channel and decodes the bit pattern back into the PAN string.</a:t>
            </a:r>
          </a:p>
        </p:txBody>
      </p:sp>
      <p:sp>
        <p:nvSpPr>
          <p:cNvPr id="20" name="Shape 18"/>
          <p:cNvSpPr/>
          <p:nvPr/>
        </p:nvSpPr>
        <p:spPr>
          <a:xfrm>
            <a:off x="548640" y="5897880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FCE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photographing visible packaging alone does not disclose the PAN factor — raising the bar beyond a simple QR copy-and-reprint attack.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IMPLEMENTATION DETAILS — EVIDENCE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 ·  Integration  ·  Security / Adversarial testing performed on the running pipeline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109960" cy="27432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— on-chain registration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pharmacist scan (genuine QR)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scan (replay attack)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COUNTERFEIT — replay detected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COUNTERFEIT — duplicate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QR on incorrect packaging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COUNTERFEIT — packaging check 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COUNTERFEIT — AI validation 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212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FINAL EVALUATION 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Evaluation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defined in the Review 1 proposal, and how each will be measured for Review 3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109960" cy="4206237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3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Measurement 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correctness / clone detection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 batch of genuine + duplicated QR submissions against the deployed contract; count correct GENUINE / COUNTERFEIT verdicts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 rate on legitimate rescans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legitimate manufacturer / regulator audit scans through a dedicated read-only path; confirm no false COUNTERFEIT flags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cost per registration &amp;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to Sepolia testnet; log gas used per registerProduct() / verifyProduct() call across a 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verification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Timed requests from image upload to verdict, across the AI check + contract call round trip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 at realistic pack volumes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Load-test the Flask API with concurrent verification requests; measure throughput degradation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 (pharmacist / patient)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walkthrough with test users on the React dashboards; task-completion time and error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PLAN FOR OUTCOME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D7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3774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400" b="1">
                <a:solidFill>
                  <a:srgbClr val="0F4C3A"/>
                </a:solidFill>
              </a:defRPr>
            </a:pPr>
            <a:r>
              <a:t>Public testnet deployment (COMPLETED)</a:t>
            </a:r>
          </a:p>
        </p:txBody>
      </p:sp>
      <p:sp>
        <p:nvSpPr>
          <p:cNvPr id="8" name="Text 6"/>
          <p:cNvSpPr/>
          <p:nvPr/>
        </p:nvSpPr>
        <p:spPr>
          <a:xfrm>
            <a:off x="749808" y="295351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ProductRegistry.sol deployed on Sepolia (0xc9d80E...777c6) via Web3.py in backend/blockchain.py.</a:t>
            </a:r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CE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53128" y="18928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53128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53128" y="23774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results package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53128" y="295351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cost, latency, clone-detection and false-positive tables ready for Review 3's comparison section.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D7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56448" y="18928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56448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56448" y="23774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56448" y="295351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JWT-authenticated RBAC across regulator / manufacturer / distributor / pharmacist / patient roles.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CE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" y="42245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4224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47091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" y="52852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static-QR / stateless-portal approaches (e.g. MediLedger-style prior art) named in Review 1.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251960" y="4023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D7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53128" y="42245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53128" y="4224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53128" y="47091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cold-chain extension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53128" y="52852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the proposed Layer-2 sensing pipeline so substandard (not just falsified) products can be flagged.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955280" y="4023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CE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56448" y="42245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56448" y="4224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56448" y="47091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custody binding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56448" y="52852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direct manufacturer-to-pharmacist transfer to a full signed custody chain.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D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846320"/>
            <a:ext cx="3108960" cy="310896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2194560" cy="0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https://github.com/BruhGunned/Authentimed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Sinha (23BKT0028)  ·  Kapilan Kathirvel (23BKT0035)  ·  Ashwin Raj (23BKT0103)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B39B"/>
                </a:solidFill>
              </a:defRPr>
            </a:pPr>
            <a:r>
              <a:t>05   IMPLEMENTATION DETAILS (III) — CODE SNIPPETS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943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Implementation Code Snippets — AI, Backend &amp; Steganography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3840480"/>
          </a:xfrm>
          <a:prstGeom prst="roundRect">
            <a:avLst/>
          </a:prstGeom>
          <a:solidFill>
            <a:srgbClr val="102038"/>
          </a:solidFill>
          <a:ln w="25400">
            <a:solidFill>
              <a:srgbClr val="2BB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80CBC4"/>
                </a:solidFill>
                <a:latin typeface="Consolas"/>
              </a:defRPr>
            </a:pPr>
            <a:r>
              <a:t># ai-auth/verify.py - OpenCV AI Packaging Check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def verify_packaging(scan_path, template_path):</a:t>
            </a:r>
          </a:p>
          <a:p>
            <a:pPr>
              <a:defRPr sz="950">
                <a:solidFill>
                  <a:srgbClr val="E0F2F1"/>
                </a:solidFill>
                <a:latin typeface="Consolas"/>
              </a:defRPr>
            </a:pPr>
            <a:r>
              <a:t>    scan_blur, scan_col, scan_cent = extract_features(scan_img)</a:t>
            </a:r>
          </a:p>
          <a:p>
            <a:pPr>
              <a:defRPr sz="950">
                <a:solidFill>
                  <a:srgbClr val="E0F2F1"/>
                </a:solidFill>
                <a:latin typeface="Consolas"/>
              </a:defRPr>
            </a:pPr>
            <a:r>
              <a:t>    tpl_blur, tpl_col, tpl_cent = extract_features(tpl_img)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FFE082"/>
                </a:solidFill>
                <a:latin typeface="Consolas"/>
              </a:defRPr>
            </a:pPr>
            <a:r>
              <a:t>    # 1. Blur Check (Laplacian Variance)</a:t>
            </a:r>
          </a:p>
          <a:p>
            <a:pPr>
              <a:defRPr sz="950">
                <a:solidFill>
                  <a:srgbClr val="EF9A9A"/>
                </a:solidFill>
                <a:latin typeface="Consolas"/>
              </a:defRPr>
            </a:pPr>
            <a:r>
              <a:t>    if scan_blur &lt; tpl_blur * 0.7: return False</a:t>
            </a:r>
          </a:p>
          <a:p>
            <a:pPr>
              <a:defRPr sz="950">
                <a:solidFill>
                  <a:srgbClr val="FFE082"/>
                </a:solidFill>
                <a:latin typeface="Consolas"/>
              </a:defRPr>
            </a:pPr>
            <a:r>
              <a:t>    # 2. Color Check (RGB Mean Norm)</a:t>
            </a:r>
          </a:p>
          <a:p>
            <a:pPr>
              <a:defRPr sz="950">
                <a:solidFill>
                  <a:srgbClr val="EF9A9A"/>
                </a:solidFill>
                <a:latin typeface="Consolas"/>
              </a:defRPr>
            </a:pPr>
            <a:r>
              <a:t>    if norm(scan_col - tpl_col) &gt; 80.0: return False</a:t>
            </a:r>
          </a:p>
          <a:p>
            <a:pPr>
              <a:defRPr sz="950">
                <a:solidFill>
                  <a:srgbClr val="FFE082"/>
                </a:solidFill>
                <a:latin typeface="Consolas"/>
              </a:defRPr>
            </a:pPr>
            <a:r>
              <a:t>    # 3. Centroid Check (Canny Edge Centroid)</a:t>
            </a:r>
          </a:p>
          <a:p>
            <a:pPr>
              <a:defRPr sz="950">
                <a:solidFill>
                  <a:srgbClr val="EF9A9A"/>
                </a:solidFill>
                <a:latin typeface="Consolas"/>
              </a:defRPr>
            </a:pPr>
            <a:r>
              <a:t>    if norm(scan_cent - tpl_cent) &gt; 12.0: return False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A5D6A7"/>
                </a:solidFill>
                <a:latin typeface="Consolas"/>
              </a:defRPr>
            </a:pPr>
            <a:r>
              <a:t>    return True # All AI packaging checks passed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5303520" cy="3840480"/>
          </a:xfrm>
          <a:prstGeom prst="roundRect">
            <a:avLst/>
          </a:prstGeom>
          <a:solidFill>
            <a:srgbClr val="102038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FCE6D6"/>
                </a:solidFill>
                <a:latin typeface="Consolas"/>
              </a:defRPr>
            </a:pPr>
            <a:r>
              <a:t># backend/id_generation.py - Steganography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def _validate_code(code):</a:t>
            </a:r>
          </a:p>
          <a:p>
            <a:pPr>
              <a:defRPr sz="950">
                <a:solidFill>
                  <a:srgbClr val="C8C8C8"/>
                </a:solidFill>
                <a:latin typeface="Consolas"/>
              </a:defRPr>
            </a:pPr>
            <a:r>
              <a:t>    # Format: 4 letters + 5 digits + 1 letter (10 chars)</a:t>
            </a:r>
          </a:p>
          <a:p>
            <a:pPr>
              <a:defRPr sz="950">
                <a:solidFill>
                  <a:srgbClr val="E0F2F1"/>
                </a:solidFill>
                <a:latin typeface="Consolas"/>
              </a:defRPr>
            </a:pPr>
            <a:r>
              <a:t>    if len(code) != 10 or not (code[:4].isalpha()</a:t>
            </a:r>
          </a:p>
          <a:p>
            <a:pPr>
              <a:defRPr sz="950">
                <a:solidFill>
                  <a:srgbClr val="E0F2F1"/>
                </a:solidFill>
                <a:latin typeface="Consolas"/>
              </a:defRPr>
            </a:pPr>
            <a:r>
              <a:t>            and code[4:9].isdigit() and code[9].isalpha()):</a:t>
            </a:r>
          </a:p>
          <a:p>
            <a:pPr>
              <a:defRPr sz="950">
                <a:solidFill>
                  <a:srgbClr val="EF9A9A"/>
                </a:solidFill>
                <a:latin typeface="Consolas"/>
              </a:defRPr>
            </a:pPr>
            <a:r>
              <a:t>        raise ValueError('Invalid 10-char PAN format')</a:t>
            </a:r>
          </a:p>
          <a:p>
            <a:pPr>
              <a:defRPr sz="950">
                <a:solidFill>
                  <a:srgbClr val="A5D6A7"/>
                </a:solidFill>
                <a:latin typeface="Consolas"/>
              </a:defRPr>
            </a:pPr>
            <a:r>
              <a:t>    return code.upper()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FFE082"/>
                </a:solidFill>
                <a:latin typeface="Consolas"/>
              </a:defRPr>
            </a:pPr>
            <a:r>
              <a:t># Steganographic Blue Channel Embedding: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def _draw_character(pixels, x_offset, char, channel):</a:t>
            </a:r>
          </a:p>
          <a:p>
            <a:pPr>
              <a:defRPr sz="950">
                <a:solidFill>
                  <a:srgbClr val="C8C8C8"/>
                </a:solidFill>
                <a:latin typeface="Consolas"/>
              </a:defRPr>
            </a:pPr>
            <a:r>
              <a:t>    # Embeds segment masks into blue LSBs</a:t>
            </a:r>
          </a:p>
          <a:p>
            <a:pPr>
              <a:defRPr sz="950">
                <a:solidFill>
                  <a:srgbClr val="A5D6A7"/>
                </a:solidFill>
                <a:latin typeface="Consolas"/>
              </a:defRPr>
            </a:pPr>
            <a:r>
              <a:t>    pixels[x, y] = (r, g, b | mask_bit)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8DC"/>
                </a:solidFill>
              </a:defRPr>
            </a:pPr>
            <a:r>
              <a:t>Modular Python Architecture: OpenCV structural comparison (ai-auth) + PIL steganographic bit-encoding (backend) execute off-chain.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1566</Words>
  <Application>Microsoft Macintosh PowerPoint</Application>
  <PresentationFormat>Widescreen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Arnav Sinha</cp:lastModifiedBy>
  <cp:revision>2</cp:revision>
  <dcterms:created xsi:type="dcterms:W3CDTF">2026-09-17T08:32:41Z</dcterms:created>
  <dcterms:modified xsi:type="dcterms:W3CDTF">2026-09-17T09:38:36Z</dcterms:modified>
</cp:coreProperties>
</file>